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04" r:id="rId2"/>
    <p:sldMasterId id="2147483707" r:id="rId3"/>
  </p:sldMasterIdLst>
  <p:notesMasterIdLst>
    <p:notesMasterId r:id="rId14"/>
  </p:notesMasterIdLst>
  <p:sldIdLst>
    <p:sldId id="256" r:id="rId4"/>
    <p:sldId id="257" r:id="rId5"/>
    <p:sldId id="258" r:id="rId6"/>
    <p:sldId id="259" r:id="rId7"/>
    <p:sldId id="260" r:id="rId8"/>
    <p:sldId id="265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5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4F77B1-648C-410B-8AAC-324C37D13EE5}" type="datetimeFigureOut">
              <a:rPr lang="fr-FR" smtClean="0"/>
              <a:t>26/08/2025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51E35-4830-4D1B-8CC6-D1561F28131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37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541333"/>
            <a:ext cx="5547600" cy="318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4722133"/>
            <a:ext cx="5547600" cy="56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6477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950967" y="3179000"/>
            <a:ext cx="5792400" cy="122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950967" y="1957800"/>
            <a:ext cx="16856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950967" y="4400200"/>
            <a:ext cx="5792400" cy="5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51130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4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7" name="Google Shape;17;p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" name="Google Shape;21;p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" name="Google Shape;22;p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960000" y="1621001"/>
            <a:ext cx="10272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algn="ctr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062329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29" name="Google Shape;29;p5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5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" name="Google Shape;31;p5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" name="Google Shape;34;p5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5" name="Google Shape;35;p5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" name="Google Shape;36;p5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6740379" y="4750099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2"/>
          </p:nvPr>
        </p:nvSpPr>
        <p:spPr>
          <a:xfrm>
            <a:off x="2111067" y="4750099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3"/>
          </p:nvPr>
        </p:nvSpPr>
        <p:spPr>
          <a:xfrm>
            <a:off x="6740367" y="41633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4"/>
          </p:nvPr>
        </p:nvSpPr>
        <p:spPr>
          <a:xfrm>
            <a:off x="2110767" y="41633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0798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>
            <a:off x="-329731" y="-379053"/>
            <a:ext cx="12851467" cy="7824217"/>
            <a:chOff x="-247298" y="-284290"/>
            <a:chExt cx="9638600" cy="5868163"/>
          </a:xfrm>
        </p:grpSpPr>
        <p:sp>
          <p:nvSpPr>
            <p:cNvPr id="44" name="Google Shape;44;p6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6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6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6"/>
            <p:cNvSpPr/>
            <p:nvPr/>
          </p:nvSpPr>
          <p:spPr>
            <a:xfrm rot="10800000" flipH="1">
              <a:off x="-125473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6"/>
            <p:cNvSpPr/>
            <p:nvPr/>
          </p:nvSpPr>
          <p:spPr>
            <a:xfrm rot="10800000" flipH="1">
              <a:off x="-125483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6"/>
            <p:cNvSpPr/>
            <p:nvPr/>
          </p:nvSpPr>
          <p:spPr>
            <a:xfrm rot="10800000" flipH="1">
              <a:off x="8424002" y="12348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6"/>
            <p:cNvSpPr/>
            <p:nvPr/>
          </p:nvSpPr>
          <p:spPr>
            <a:xfrm rot="10800000" flipH="1">
              <a:off x="8423992" y="-2842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863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7399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960000" y="2202767"/>
            <a:ext cx="5726400" cy="28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6083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title"/>
          </p:nvPr>
        </p:nvSpPr>
        <p:spPr>
          <a:xfrm>
            <a:off x="5723033" y="2218467"/>
            <a:ext cx="5518000" cy="242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5690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5150633" y="2207333"/>
            <a:ext cx="6090400" cy="1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86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5150633" y="3755900"/>
            <a:ext cx="6090400" cy="89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6448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960000" y="5256833"/>
            <a:ext cx="10272000" cy="859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1886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 hasCustomPrompt="1"/>
          </p:nvPr>
        </p:nvSpPr>
        <p:spPr>
          <a:xfrm>
            <a:off x="950967" y="2365467"/>
            <a:ext cx="6234800" cy="146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66" name="Google Shape;66;p11"/>
          <p:cNvSpPr txBox="1">
            <a:spLocks noGrp="1"/>
          </p:cNvSpPr>
          <p:nvPr>
            <p:ph type="subTitle" idx="1"/>
          </p:nvPr>
        </p:nvSpPr>
        <p:spPr>
          <a:xfrm>
            <a:off x="950967" y="3829700"/>
            <a:ext cx="6234800" cy="6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533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66096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-556948" y="-571503"/>
            <a:ext cx="13305847" cy="8001012"/>
            <a:chOff x="-417711" y="-428628"/>
            <a:chExt cx="9979385" cy="6000759"/>
          </a:xfrm>
        </p:grpSpPr>
        <p:sp>
          <p:nvSpPr>
            <p:cNvPr id="70" name="Google Shape;70;p13"/>
            <p:cNvSpPr/>
            <p:nvPr/>
          </p:nvSpPr>
          <p:spPr>
            <a:xfrm>
              <a:off x="421002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13"/>
            <p:cNvSpPr/>
            <p:nvPr/>
          </p:nvSpPr>
          <p:spPr>
            <a:xfrm>
              <a:off x="7884277" y="-4286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13"/>
            <p:cNvSpPr/>
            <p:nvPr/>
          </p:nvSpPr>
          <p:spPr>
            <a:xfrm>
              <a:off x="8430764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13"/>
            <p:cNvSpPr/>
            <p:nvPr/>
          </p:nvSpPr>
          <p:spPr>
            <a:xfrm>
              <a:off x="8430764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13"/>
            <p:cNvSpPr/>
            <p:nvPr/>
          </p:nvSpPr>
          <p:spPr>
            <a:xfrm>
              <a:off x="-125486" y="554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75;p13"/>
            <p:cNvSpPr/>
            <p:nvPr/>
          </p:nvSpPr>
          <p:spPr>
            <a:xfrm>
              <a:off x="-125486" y="7462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76;p13"/>
            <p:cNvSpPr/>
            <p:nvPr/>
          </p:nvSpPr>
          <p:spPr>
            <a:xfrm>
              <a:off x="-417711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" name="Google Shape;77;p13"/>
            <p:cNvSpPr/>
            <p:nvPr/>
          </p:nvSpPr>
          <p:spPr>
            <a:xfrm>
              <a:off x="872296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8" name="Google Shape;78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1"/>
          </p:nvPr>
        </p:nvSpPr>
        <p:spPr>
          <a:xfrm>
            <a:off x="960000" y="290465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2"/>
          </p:nvPr>
        </p:nvSpPr>
        <p:spPr>
          <a:xfrm>
            <a:off x="4559028" y="290465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3"/>
          </p:nvPr>
        </p:nvSpPr>
        <p:spPr>
          <a:xfrm>
            <a:off x="960000" y="52155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4"/>
          </p:nvPr>
        </p:nvSpPr>
        <p:spPr>
          <a:xfrm>
            <a:off x="4559028" y="52155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5"/>
          </p:nvPr>
        </p:nvSpPr>
        <p:spPr>
          <a:xfrm>
            <a:off x="8158065" y="290465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ubTitle" idx="6"/>
          </p:nvPr>
        </p:nvSpPr>
        <p:spPr>
          <a:xfrm>
            <a:off x="8158065" y="5215567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7" hasCustomPrompt="1"/>
          </p:nvPr>
        </p:nvSpPr>
        <p:spPr>
          <a:xfrm>
            <a:off x="2007200" y="1609235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8" hasCustomPrompt="1"/>
          </p:nvPr>
        </p:nvSpPr>
        <p:spPr>
          <a:xfrm>
            <a:off x="2007200" y="3919369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9" hasCustomPrompt="1"/>
          </p:nvPr>
        </p:nvSpPr>
        <p:spPr>
          <a:xfrm>
            <a:off x="5606228" y="1609235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3" hasCustomPrompt="1"/>
          </p:nvPr>
        </p:nvSpPr>
        <p:spPr>
          <a:xfrm>
            <a:off x="5606228" y="3919369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14" hasCustomPrompt="1"/>
          </p:nvPr>
        </p:nvSpPr>
        <p:spPr>
          <a:xfrm>
            <a:off x="9205267" y="1609235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5" hasCustomPrompt="1"/>
          </p:nvPr>
        </p:nvSpPr>
        <p:spPr>
          <a:xfrm>
            <a:off x="9205267" y="3919369"/>
            <a:ext cx="979600" cy="76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16"/>
          </p:nvPr>
        </p:nvSpPr>
        <p:spPr>
          <a:xfrm>
            <a:off x="960000" y="240148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7"/>
          </p:nvPr>
        </p:nvSpPr>
        <p:spPr>
          <a:xfrm>
            <a:off x="4559028" y="240148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8"/>
          </p:nvPr>
        </p:nvSpPr>
        <p:spPr>
          <a:xfrm>
            <a:off x="8158065" y="240148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19"/>
          </p:nvPr>
        </p:nvSpPr>
        <p:spPr>
          <a:xfrm>
            <a:off x="960000" y="47117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20"/>
          </p:nvPr>
        </p:nvSpPr>
        <p:spPr>
          <a:xfrm>
            <a:off x="4559028" y="47117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1"/>
          </p:nvPr>
        </p:nvSpPr>
        <p:spPr>
          <a:xfrm>
            <a:off x="8158065" y="47117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77217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14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99" name="Google Shape;99;p14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101;p14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102;p14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103;p14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104;p14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105;p14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106;p14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7" name="Google Shape;107;p14"/>
          <p:cNvSpPr txBox="1">
            <a:spLocks noGrp="1"/>
          </p:cNvSpPr>
          <p:nvPr>
            <p:ph type="title"/>
          </p:nvPr>
        </p:nvSpPr>
        <p:spPr>
          <a:xfrm>
            <a:off x="1635233" y="4306000"/>
            <a:ext cx="8921600" cy="7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subTitle" idx="1"/>
          </p:nvPr>
        </p:nvSpPr>
        <p:spPr>
          <a:xfrm>
            <a:off x="1635217" y="1821600"/>
            <a:ext cx="89216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0867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5"/>
          <p:cNvGrpSpPr/>
          <p:nvPr/>
        </p:nvGrpSpPr>
        <p:grpSpPr>
          <a:xfrm>
            <a:off x="-713510" y="-50431"/>
            <a:ext cx="13609993" cy="7495595"/>
            <a:chOff x="-535133" y="-37823"/>
            <a:chExt cx="10207495" cy="5621696"/>
          </a:xfrm>
        </p:grpSpPr>
        <p:sp>
          <p:nvSpPr>
            <p:cNvPr id="111" name="Google Shape;111;p15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15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15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15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15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15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15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9" name="Google Shape;119;p1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6705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6"/>
          <p:cNvGrpSpPr/>
          <p:nvPr/>
        </p:nvGrpSpPr>
        <p:grpSpPr>
          <a:xfrm>
            <a:off x="-329731" y="-594953"/>
            <a:ext cx="12851480" cy="8040117"/>
            <a:chOff x="-247298" y="-446215"/>
            <a:chExt cx="9638610" cy="6030088"/>
          </a:xfrm>
        </p:grpSpPr>
        <p:sp>
          <p:nvSpPr>
            <p:cNvPr id="122" name="Google Shape;122;p16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" name="Google Shape;124;p16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" name="Google Shape;125;p16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6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6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0" name="Google Shape;130;p1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77256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oogle Shape;132;p17"/>
          <p:cNvGrpSpPr/>
          <p:nvPr/>
        </p:nvGrpSpPr>
        <p:grpSpPr>
          <a:xfrm>
            <a:off x="-731744" y="-779864"/>
            <a:ext cx="13655480" cy="8225039"/>
            <a:chOff x="-548808" y="-584898"/>
            <a:chExt cx="10241610" cy="6168779"/>
          </a:xfrm>
        </p:grpSpPr>
        <p:sp>
          <p:nvSpPr>
            <p:cNvPr id="133" name="Google Shape;133;p17"/>
            <p:cNvSpPr/>
            <p:nvPr/>
          </p:nvSpPr>
          <p:spPr>
            <a:xfrm>
              <a:off x="293877" y="46157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5" name="Google Shape;135;p17"/>
            <p:cNvSpPr/>
            <p:nvPr/>
          </p:nvSpPr>
          <p:spPr>
            <a:xfrm rot="10800000" flipH="1">
              <a:off x="-129123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6" name="Google Shape;136;p17"/>
            <p:cNvSpPr/>
            <p:nvPr/>
          </p:nvSpPr>
          <p:spPr>
            <a:xfrm rot="10800000" flipH="1">
              <a:off x="-548808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7"/>
            <p:cNvSpPr/>
            <p:nvPr/>
          </p:nvSpPr>
          <p:spPr>
            <a:xfrm>
              <a:off x="1851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7"/>
            <p:cNvSpPr/>
            <p:nvPr/>
          </p:nvSpPr>
          <p:spPr>
            <a:xfrm rot="10800000">
              <a:off x="8434407" y="44966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9" name="Google Shape;139;p17"/>
            <p:cNvSpPr/>
            <p:nvPr/>
          </p:nvSpPr>
          <p:spPr>
            <a:xfrm rot="10800000">
              <a:off x="8854092" y="4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0" name="Google Shape;140;p17"/>
            <p:cNvSpPr/>
            <p:nvPr/>
          </p:nvSpPr>
          <p:spPr>
            <a:xfrm flipH="1">
              <a:off x="8120092" y="-58489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1" name="Google Shape;141;p1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908361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grpSp>
        <p:nvGrpSpPr>
          <p:cNvPr id="144" name="Google Shape;144;p18"/>
          <p:cNvGrpSpPr/>
          <p:nvPr/>
        </p:nvGrpSpPr>
        <p:grpSpPr>
          <a:xfrm>
            <a:off x="-635728" y="3867003"/>
            <a:ext cx="13463447" cy="3820272"/>
            <a:chOff x="-476796" y="2900252"/>
            <a:chExt cx="10097585" cy="2865204"/>
          </a:xfrm>
        </p:grpSpPr>
        <p:grpSp>
          <p:nvGrpSpPr>
            <p:cNvPr id="145" name="Google Shape;145;p18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146" name="Google Shape;146;p18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7" name="Google Shape;147;p18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8" name="Google Shape;148;p18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9" name="Google Shape;149;p18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0" name="Google Shape;150;p18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1" name="Google Shape;151;p18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2" name="Google Shape;152;p18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53" name="Google Shape;153;p18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9425436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9"/>
          <p:cNvGrpSpPr/>
          <p:nvPr/>
        </p:nvGrpSpPr>
        <p:grpSpPr>
          <a:xfrm>
            <a:off x="-193444" y="-671787"/>
            <a:ext cx="12578893" cy="8201584"/>
            <a:chOff x="-145083" y="-503840"/>
            <a:chExt cx="9434170" cy="6151188"/>
          </a:xfrm>
        </p:grpSpPr>
        <p:sp>
          <p:nvSpPr>
            <p:cNvPr id="156" name="Google Shape;156;p19"/>
            <p:cNvSpPr/>
            <p:nvPr/>
          </p:nvSpPr>
          <p:spPr>
            <a:xfrm rot="10800000" flipH="1">
              <a:off x="534577" y="46792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19"/>
            <p:cNvSpPr/>
            <p:nvPr/>
          </p:nvSpPr>
          <p:spPr>
            <a:xfrm>
              <a:off x="-145073" y="392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19"/>
            <p:cNvSpPr/>
            <p:nvPr/>
          </p:nvSpPr>
          <p:spPr>
            <a:xfrm>
              <a:off x="-145083" y="44198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19"/>
            <p:cNvSpPr/>
            <p:nvPr/>
          </p:nvSpPr>
          <p:spPr>
            <a:xfrm flipH="1">
              <a:off x="8430777" y="46443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19"/>
            <p:cNvSpPr/>
            <p:nvPr/>
          </p:nvSpPr>
          <p:spPr>
            <a:xfrm rot="10800000" flipH="1">
              <a:off x="-125483" y="-4286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19"/>
            <p:cNvSpPr/>
            <p:nvPr/>
          </p:nvSpPr>
          <p:spPr>
            <a:xfrm flipH="1">
              <a:off x="7770717" y="-5038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19"/>
            <p:cNvSpPr/>
            <p:nvPr/>
          </p:nvSpPr>
          <p:spPr>
            <a:xfrm rot="10800000">
              <a:off x="8450367" y="2513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19"/>
            <p:cNvSpPr/>
            <p:nvPr/>
          </p:nvSpPr>
          <p:spPr>
            <a:xfrm rot="10800000">
              <a:off x="8450377" y="-2444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xfrm>
            <a:off x="960000" y="1693751"/>
            <a:ext cx="5036400" cy="227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1"/>
          </p:nvPr>
        </p:nvSpPr>
        <p:spPr>
          <a:xfrm>
            <a:off x="960000" y="3973084"/>
            <a:ext cx="5036400" cy="11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66" name="Google Shape;166;p19"/>
          <p:cNvSpPr>
            <a:spLocks noGrp="1"/>
          </p:cNvSpPr>
          <p:nvPr>
            <p:ph type="pic" idx="2"/>
          </p:nvPr>
        </p:nvSpPr>
        <p:spPr>
          <a:xfrm>
            <a:off x="6829233" y="1413767"/>
            <a:ext cx="4145600" cy="4145600"/>
          </a:xfrm>
          <a:prstGeom prst="ellipse">
            <a:avLst/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287831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20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69" name="Google Shape;169;p20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0" name="Google Shape;170;p20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1" name="Google Shape;171;p20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2" name="Google Shape;172;p20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3" name="Google Shape;173;p20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4" name="Google Shape;174;p20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5" name="Google Shape;175;p20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7" name="Google Shape;177;p20"/>
          <p:cNvSpPr txBox="1">
            <a:spLocks noGrp="1"/>
          </p:cNvSpPr>
          <p:nvPr>
            <p:ph type="title"/>
          </p:nvPr>
        </p:nvSpPr>
        <p:spPr>
          <a:xfrm>
            <a:off x="960000" y="2183400"/>
            <a:ext cx="47972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1"/>
          </p:nvPr>
        </p:nvSpPr>
        <p:spPr>
          <a:xfrm>
            <a:off x="960000" y="3601000"/>
            <a:ext cx="4797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09912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21"/>
          <p:cNvGrpSpPr/>
          <p:nvPr/>
        </p:nvGrpSpPr>
        <p:grpSpPr>
          <a:xfrm flipH="1"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81" name="Google Shape;181;p21"/>
            <p:cNvSpPr/>
            <p:nvPr/>
          </p:nvSpPr>
          <p:spPr>
            <a:xfrm>
              <a:off x="-125473" y="4453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2" name="Google Shape;182;p21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3" name="Google Shape;183;p21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4" name="Google Shape;184;p2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5" name="Google Shape;185;p21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6" name="Google Shape;186;p21"/>
            <p:cNvSpPr/>
            <p:nvPr/>
          </p:nvSpPr>
          <p:spPr>
            <a:xfrm rot="10800000">
              <a:off x="8430767" y="-4042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7" name="Google Shape;187;p21"/>
            <p:cNvSpPr/>
            <p:nvPr/>
          </p:nvSpPr>
          <p:spPr>
            <a:xfrm>
              <a:off x="-125483" y="3996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8" name="Google Shape;188;p21"/>
            <p:cNvSpPr/>
            <p:nvPr/>
          </p:nvSpPr>
          <p:spPr>
            <a:xfrm>
              <a:off x="8430767" y="4683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6449600" y="2395133"/>
            <a:ext cx="4791200" cy="859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1"/>
          </p:nvPr>
        </p:nvSpPr>
        <p:spPr>
          <a:xfrm>
            <a:off x="6449833" y="3254867"/>
            <a:ext cx="4791200" cy="120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07757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22"/>
          <p:cNvGrpSpPr/>
          <p:nvPr/>
        </p:nvGrpSpPr>
        <p:grpSpPr>
          <a:xfrm>
            <a:off x="-329731" y="-594953"/>
            <a:ext cx="12851467" cy="8040117"/>
            <a:chOff x="-247298" y="-446215"/>
            <a:chExt cx="9638600" cy="6030088"/>
          </a:xfrm>
        </p:grpSpPr>
        <p:sp>
          <p:nvSpPr>
            <p:cNvPr id="193" name="Google Shape;193;p22"/>
            <p:cNvSpPr/>
            <p:nvPr/>
          </p:nvSpPr>
          <p:spPr>
            <a:xfrm>
              <a:off x="-247298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29354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22"/>
            <p:cNvSpPr/>
            <p:nvPr/>
          </p:nvSpPr>
          <p:spPr>
            <a:xfrm flipH="1">
              <a:off x="85525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22"/>
            <p:cNvSpPr/>
            <p:nvPr/>
          </p:nvSpPr>
          <p:spPr>
            <a:xfrm flipH="1">
              <a:off x="80117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" name="Google Shape;197;p22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22"/>
            <p:cNvSpPr/>
            <p:nvPr/>
          </p:nvSpPr>
          <p:spPr>
            <a:xfrm rot="10800000" flipH="1">
              <a:off x="29354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" name="Google Shape;199;p22"/>
            <p:cNvSpPr/>
            <p:nvPr/>
          </p:nvSpPr>
          <p:spPr>
            <a:xfrm rot="10800000">
              <a:off x="855259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2"/>
            <p:cNvSpPr/>
            <p:nvPr/>
          </p:nvSpPr>
          <p:spPr>
            <a:xfrm rot="10800000">
              <a:off x="8011752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1" name="Google Shape;20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02" name="Google Shape;202;p22"/>
          <p:cNvSpPr txBox="1">
            <a:spLocks noGrp="1"/>
          </p:cNvSpPr>
          <p:nvPr>
            <p:ph type="body" idx="1"/>
          </p:nvPr>
        </p:nvSpPr>
        <p:spPr>
          <a:xfrm>
            <a:off x="960000" y="1620989"/>
            <a:ext cx="10272000" cy="136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441609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3"/>
          <p:cNvGrpSpPr/>
          <p:nvPr/>
        </p:nvGrpSpPr>
        <p:grpSpPr>
          <a:xfrm>
            <a:off x="-713510" y="-50431"/>
            <a:ext cx="13609993" cy="7495595"/>
            <a:chOff x="-535133" y="-37823"/>
            <a:chExt cx="10207495" cy="5621696"/>
          </a:xfrm>
        </p:grpSpPr>
        <p:sp>
          <p:nvSpPr>
            <p:cNvPr id="205" name="Google Shape;205;p23"/>
            <p:cNvSpPr/>
            <p:nvPr/>
          </p:nvSpPr>
          <p:spPr>
            <a:xfrm>
              <a:off x="-1254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-53513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23"/>
            <p:cNvSpPr/>
            <p:nvPr/>
          </p:nvSpPr>
          <p:spPr>
            <a:xfrm rot="10800000">
              <a:off x="8833642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23"/>
            <p:cNvSpPr/>
            <p:nvPr/>
          </p:nvSpPr>
          <p:spPr>
            <a:xfrm rot="10800000">
              <a:off x="8430777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23"/>
            <p:cNvSpPr/>
            <p:nvPr/>
          </p:nvSpPr>
          <p:spPr>
            <a:xfrm flipH="1">
              <a:off x="8423992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23"/>
            <p:cNvSpPr/>
            <p:nvPr/>
          </p:nvSpPr>
          <p:spPr>
            <a:xfrm flipH="1">
              <a:off x="8833652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23"/>
            <p:cNvSpPr/>
            <p:nvPr/>
          </p:nvSpPr>
          <p:spPr>
            <a:xfrm rot="10800000" flipH="1">
              <a:off x="-528348" y="-378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23"/>
            <p:cNvSpPr/>
            <p:nvPr/>
          </p:nvSpPr>
          <p:spPr>
            <a:xfrm rot="10800000" flipH="1">
              <a:off x="-125483" y="419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13" name="Google Shape;213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14" name="Google Shape;214;p23"/>
          <p:cNvSpPr txBox="1">
            <a:spLocks noGrp="1"/>
          </p:cNvSpPr>
          <p:nvPr>
            <p:ph type="body" idx="1"/>
          </p:nvPr>
        </p:nvSpPr>
        <p:spPr>
          <a:xfrm>
            <a:off x="960000" y="1620999"/>
            <a:ext cx="10272000" cy="41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9321359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4"/>
          <p:cNvGrpSpPr/>
          <p:nvPr/>
        </p:nvGrpSpPr>
        <p:grpSpPr>
          <a:xfrm>
            <a:off x="-413964" y="4667636"/>
            <a:ext cx="13019933" cy="3103939"/>
            <a:chOff x="-310473" y="3500727"/>
            <a:chExt cx="9764950" cy="2327954"/>
          </a:xfrm>
        </p:grpSpPr>
        <p:sp>
          <p:nvSpPr>
            <p:cNvPr id="217" name="Google Shape;217;p24"/>
            <p:cNvSpPr/>
            <p:nvPr/>
          </p:nvSpPr>
          <p:spPr>
            <a:xfrm rot="10800000" flipH="1">
              <a:off x="927364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24"/>
            <p:cNvSpPr/>
            <p:nvPr/>
          </p:nvSpPr>
          <p:spPr>
            <a:xfrm rot="10800000" flipH="1">
              <a:off x="273054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24"/>
            <p:cNvSpPr/>
            <p:nvPr/>
          </p:nvSpPr>
          <p:spPr>
            <a:xfrm>
              <a:off x="-310473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4"/>
            <p:cNvSpPr/>
            <p:nvPr/>
          </p:nvSpPr>
          <p:spPr>
            <a:xfrm>
              <a:off x="-125483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4"/>
            <p:cNvSpPr/>
            <p:nvPr/>
          </p:nvSpPr>
          <p:spPr>
            <a:xfrm flipH="1">
              <a:off x="8615767" y="39963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24"/>
            <p:cNvSpPr/>
            <p:nvPr/>
          </p:nvSpPr>
          <p:spPr>
            <a:xfrm flipH="1">
              <a:off x="8424002" y="3500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24"/>
            <p:cNvSpPr/>
            <p:nvPr/>
          </p:nvSpPr>
          <p:spPr>
            <a:xfrm rot="10800000">
              <a:off x="7377929" y="46300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24"/>
            <p:cNvSpPr/>
            <p:nvPr/>
          </p:nvSpPr>
          <p:spPr>
            <a:xfrm rot="10800000">
              <a:off x="8032239" y="48605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5" name="Google Shape;225;p2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26" name="Google Shape;226;p24"/>
          <p:cNvSpPr txBox="1">
            <a:spLocks noGrp="1"/>
          </p:cNvSpPr>
          <p:nvPr>
            <p:ph type="subTitle" idx="1"/>
          </p:nvPr>
        </p:nvSpPr>
        <p:spPr>
          <a:xfrm>
            <a:off x="6428108" y="3710633"/>
            <a:ext cx="3792000" cy="1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27" name="Google Shape;227;p24"/>
          <p:cNvSpPr txBox="1">
            <a:spLocks noGrp="1"/>
          </p:cNvSpPr>
          <p:nvPr>
            <p:ph type="subTitle" idx="2"/>
          </p:nvPr>
        </p:nvSpPr>
        <p:spPr>
          <a:xfrm>
            <a:off x="1971933" y="3710633"/>
            <a:ext cx="3792000" cy="15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28" name="Google Shape;228;p24"/>
          <p:cNvSpPr txBox="1">
            <a:spLocks noGrp="1"/>
          </p:cNvSpPr>
          <p:nvPr>
            <p:ph type="subTitle" idx="3"/>
          </p:nvPr>
        </p:nvSpPr>
        <p:spPr>
          <a:xfrm>
            <a:off x="1971933" y="3160833"/>
            <a:ext cx="3792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29" name="Google Shape;229;p24"/>
          <p:cNvSpPr txBox="1">
            <a:spLocks noGrp="1"/>
          </p:cNvSpPr>
          <p:nvPr>
            <p:ph type="subTitle" idx="4"/>
          </p:nvPr>
        </p:nvSpPr>
        <p:spPr>
          <a:xfrm>
            <a:off x="6428121" y="3160833"/>
            <a:ext cx="3792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12458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25"/>
          <p:cNvGrpSpPr/>
          <p:nvPr/>
        </p:nvGrpSpPr>
        <p:grpSpPr>
          <a:xfrm>
            <a:off x="-873727" y="4582114"/>
            <a:ext cx="13939460" cy="3081628"/>
            <a:chOff x="-655296" y="3436585"/>
            <a:chExt cx="10454595" cy="2311221"/>
          </a:xfrm>
        </p:grpSpPr>
        <p:sp>
          <p:nvSpPr>
            <p:cNvPr id="232" name="Google Shape;232;p25"/>
            <p:cNvSpPr/>
            <p:nvPr/>
          </p:nvSpPr>
          <p:spPr>
            <a:xfrm rot="10800000" flipH="1">
              <a:off x="-136836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3" name="Google Shape;233;p25"/>
            <p:cNvSpPr/>
            <p:nvPr/>
          </p:nvSpPr>
          <p:spPr>
            <a:xfrm>
              <a:off x="183414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4" name="Google Shape;234;p25"/>
            <p:cNvSpPr/>
            <p:nvPr/>
          </p:nvSpPr>
          <p:spPr>
            <a:xfrm rot="10800000" flipH="1">
              <a:off x="-655296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5" name="Google Shape;235;p25"/>
            <p:cNvSpPr/>
            <p:nvPr/>
          </p:nvSpPr>
          <p:spPr>
            <a:xfrm rot="10800000">
              <a:off x="8442129" y="34365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6" name="Google Shape;236;p25"/>
            <p:cNvSpPr/>
            <p:nvPr/>
          </p:nvSpPr>
          <p:spPr>
            <a:xfrm flipH="1">
              <a:off x="8121879" y="454091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7" name="Google Shape;237;p25"/>
            <p:cNvSpPr/>
            <p:nvPr/>
          </p:nvSpPr>
          <p:spPr>
            <a:xfrm rot="10800000">
              <a:off x="8960589" y="390306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8" name="Google Shape;238;p25"/>
            <p:cNvSpPr/>
            <p:nvPr/>
          </p:nvSpPr>
          <p:spPr>
            <a:xfrm rot="10800000">
              <a:off x="7718714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9" name="Google Shape;239;p25"/>
            <p:cNvSpPr/>
            <p:nvPr/>
          </p:nvSpPr>
          <p:spPr>
            <a:xfrm rot="10800000">
              <a:off x="586589" y="47796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0" name="Google Shape;240;p2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41" name="Google Shape;241;p25"/>
          <p:cNvSpPr txBox="1">
            <a:spLocks noGrp="1"/>
          </p:cNvSpPr>
          <p:nvPr>
            <p:ph type="subTitle" idx="1"/>
          </p:nvPr>
        </p:nvSpPr>
        <p:spPr>
          <a:xfrm>
            <a:off x="6195000" y="2223500"/>
            <a:ext cx="4531200" cy="25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42" name="Google Shape;242;p25"/>
          <p:cNvSpPr txBox="1">
            <a:spLocks noGrp="1"/>
          </p:cNvSpPr>
          <p:nvPr>
            <p:ph type="subTitle" idx="2"/>
          </p:nvPr>
        </p:nvSpPr>
        <p:spPr>
          <a:xfrm>
            <a:off x="1465784" y="2223500"/>
            <a:ext cx="4531200" cy="253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5039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26"/>
          <p:cNvGrpSpPr/>
          <p:nvPr/>
        </p:nvGrpSpPr>
        <p:grpSpPr>
          <a:xfrm>
            <a:off x="-682714" y="-477364"/>
            <a:ext cx="13559217" cy="7906872"/>
            <a:chOff x="-512036" y="-358023"/>
            <a:chExt cx="10169413" cy="5930154"/>
          </a:xfrm>
        </p:grpSpPr>
        <p:sp>
          <p:nvSpPr>
            <p:cNvPr id="245" name="Google Shape;245;p26"/>
            <p:cNvSpPr/>
            <p:nvPr/>
          </p:nvSpPr>
          <p:spPr>
            <a:xfrm flipH="1">
              <a:off x="8430767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6" name="Google Shape;246;p26"/>
            <p:cNvSpPr/>
            <p:nvPr/>
          </p:nvSpPr>
          <p:spPr>
            <a:xfrm rot="10800000">
              <a:off x="8818667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26"/>
            <p:cNvSpPr/>
            <p:nvPr/>
          </p:nvSpPr>
          <p:spPr>
            <a:xfrm rot="10800000">
              <a:off x="8011414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8" name="Google Shape;248;p26"/>
            <p:cNvSpPr/>
            <p:nvPr/>
          </p:nvSpPr>
          <p:spPr>
            <a:xfrm flipH="1">
              <a:off x="8430777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9" name="Google Shape;249;p26"/>
            <p:cNvSpPr/>
            <p:nvPr/>
          </p:nvSpPr>
          <p:spPr>
            <a:xfrm>
              <a:off x="-124136" y="40742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0" name="Google Shape;250;p26"/>
            <p:cNvSpPr/>
            <p:nvPr/>
          </p:nvSpPr>
          <p:spPr>
            <a:xfrm rot="10800000" flipH="1">
              <a:off x="-512036" y="182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26"/>
            <p:cNvSpPr/>
            <p:nvPr/>
          </p:nvSpPr>
          <p:spPr>
            <a:xfrm rot="10800000" flipH="1">
              <a:off x="295217" y="46040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26"/>
            <p:cNvSpPr/>
            <p:nvPr/>
          </p:nvSpPr>
          <p:spPr>
            <a:xfrm>
              <a:off x="-124133" y="-3580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53" name="Google Shape;253;p2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54" name="Google Shape;254;p26"/>
          <p:cNvSpPr txBox="1">
            <a:spLocks noGrp="1"/>
          </p:cNvSpPr>
          <p:nvPr>
            <p:ph type="subTitle" idx="1"/>
          </p:nvPr>
        </p:nvSpPr>
        <p:spPr>
          <a:xfrm>
            <a:off x="1174967" y="3691668"/>
            <a:ext cx="30508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55" name="Google Shape;255;p26"/>
          <p:cNvSpPr txBox="1">
            <a:spLocks noGrp="1"/>
          </p:cNvSpPr>
          <p:nvPr>
            <p:ph type="subTitle" idx="2"/>
          </p:nvPr>
        </p:nvSpPr>
        <p:spPr>
          <a:xfrm>
            <a:off x="4570600" y="3691668"/>
            <a:ext cx="30508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56" name="Google Shape;256;p26"/>
          <p:cNvSpPr txBox="1">
            <a:spLocks noGrp="1"/>
          </p:cNvSpPr>
          <p:nvPr>
            <p:ph type="subTitle" idx="3"/>
          </p:nvPr>
        </p:nvSpPr>
        <p:spPr>
          <a:xfrm>
            <a:off x="7966267" y="3691668"/>
            <a:ext cx="30508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57" name="Google Shape;257;p26"/>
          <p:cNvSpPr txBox="1">
            <a:spLocks noGrp="1"/>
          </p:cNvSpPr>
          <p:nvPr>
            <p:ph type="subTitle" idx="4"/>
          </p:nvPr>
        </p:nvSpPr>
        <p:spPr>
          <a:xfrm>
            <a:off x="1174967" y="3000367"/>
            <a:ext cx="30508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58" name="Google Shape;258;p26"/>
          <p:cNvSpPr txBox="1">
            <a:spLocks noGrp="1"/>
          </p:cNvSpPr>
          <p:nvPr>
            <p:ph type="subTitle" idx="5"/>
          </p:nvPr>
        </p:nvSpPr>
        <p:spPr>
          <a:xfrm>
            <a:off x="4570605" y="3000367"/>
            <a:ext cx="30508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59" name="Google Shape;259;p26"/>
          <p:cNvSpPr txBox="1">
            <a:spLocks noGrp="1"/>
          </p:cNvSpPr>
          <p:nvPr>
            <p:ph type="subTitle" idx="6"/>
          </p:nvPr>
        </p:nvSpPr>
        <p:spPr>
          <a:xfrm>
            <a:off x="7966267" y="3000367"/>
            <a:ext cx="30508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00555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692611" y="3566280"/>
            <a:ext cx="13632280" cy="3659917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rot="10800000" flipH="1">
              <a:off x="-118698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27"/>
            <p:cNvSpPr/>
            <p:nvPr/>
          </p:nvSpPr>
          <p:spPr>
            <a:xfrm rot="10800000" flipH="1">
              <a:off x="-519458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1"/>
          </p:nvPr>
        </p:nvSpPr>
        <p:spPr>
          <a:xfrm>
            <a:off x="1523933" y="2958751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2"/>
          </p:nvPr>
        </p:nvSpPr>
        <p:spPr>
          <a:xfrm>
            <a:off x="6332455" y="2958751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3"/>
          </p:nvPr>
        </p:nvSpPr>
        <p:spPr>
          <a:xfrm>
            <a:off x="1523933" y="5347084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subTitle" idx="4"/>
          </p:nvPr>
        </p:nvSpPr>
        <p:spPr>
          <a:xfrm>
            <a:off x="6332455" y="5347084"/>
            <a:ext cx="4335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subTitle" idx="5"/>
          </p:nvPr>
        </p:nvSpPr>
        <p:spPr>
          <a:xfrm>
            <a:off x="1523949" y="2480784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subTitle" idx="6"/>
          </p:nvPr>
        </p:nvSpPr>
        <p:spPr>
          <a:xfrm>
            <a:off x="1523949" y="4869251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7"/>
          </p:nvPr>
        </p:nvSpPr>
        <p:spPr>
          <a:xfrm>
            <a:off x="6332451" y="2480784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subTitle" idx="8"/>
          </p:nvPr>
        </p:nvSpPr>
        <p:spPr>
          <a:xfrm>
            <a:off x="6332451" y="4869251"/>
            <a:ext cx="4335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05645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28"/>
          <p:cNvGrpSpPr/>
          <p:nvPr/>
        </p:nvGrpSpPr>
        <p:grpSpPr>
          <a:xfrm>
            <a:off x="-355297" y="4455197"/>
            <a:ext cx="12902613" cy="3095895"/>
            <a:chOff x="-266473" y="3341397"/>
            <a:chExt cx="9676960" cy="2321921"/>
          </a:xfrm>
        </p:grpSpPr>
        <p:sp>
          <p:nvSpPr>
            <p:cNvPr id="281" name="Google Shape;281;p28"/>
            <p:cNvSpPr/>
            <p:nvPr/>
          </p:nvSpPr>
          <p:spPr>
            <a:xfrm flipH="1">
              <a:off x="744167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28"/>
            <p:cNvSpPr/>
            <p:nvPr/>
          </p:nvSpPr>
          <p:spPr>
            <a:xfrm>
              <a:off x="863615" y="469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28"/>
            <p:cNvSpPr/>
            <p:nvPr/>
          </p:nvSpPr>
          <p:spPr>
            <a:xfrm rot="10800000" flipH="1">
              <a:off x="-266473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28"/>
            <p:cNvSpPr/>
            <p:nvPr/>
          </p:nvSpPr>
          <p:spPr>
            <a:xfrm>
              <a:off x="15286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28"/>
            <p:cNvSpPr/>
            <p:nvPr/>
          </p:nvSpPr>
          <p:spPr>
            <a:xfrm rot="10800000" flipH="1">
              <a:off x="-151033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28"/>
            <p:cNvSpPr/>
            <p:nvPr/>
          </p:nvSpPr>
          <p:spPr>
            <a:xfrm rot="10800000">
              <a:off x="8571777" y="40287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7" name="Google Shape;287;p28"/>
            <p:cNvSpPr/>
            <p:nvPr/>
          </p:nvSpPr>
          <p:spPr>
            <a:xfrm flipH="1">
              <a:off x="8152437" y="45245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8" name="Google Shape;288;p28"/>
            <p:cNvSpPr/>
            <p:nvPr/>
          </p:nvSpPr>
          <p:spPr>
            <a:xfrm rot="10800000">
              <a:off x="8456337" y="33413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89" name="Google Shape;289;p2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90" name="Google Shape;290;p28"/>
          <p:cNvSpPr txBox="1">
            <a:spLocks noGrp="1"/>
          </p:cNvSpPr>
          <p:nvPr>
            <p:ph type="subTitle" idx="1"/>
          </p:nvPr>
        </p:nvSpPr>
        <p:spPr>
          <a:xfrm>
            <a:off x="1291365" y="2980817"/>
            <a:ext cx="30216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91" name="Google Shape;291;p28"/>
          <p:cNvSpPr txBox="1">
            <a:spLocks noGrp="1"/>
          </p:cNvSpPr>
          <p:nvPr>
            <p:ph type="subTitle" idx="2"/>
          </p:nvPr>
        </p:nvSpPr>
        <p:spPr>
          <a:xfrm>
            <a:off x="4585417" y="298081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92" name="Google Shape;292;p28"/>
          <p:cNvSpPr txBox="1">
            <a:spLocks noGrp="1"/>
          </p:cNvSpPr>
          <p:nvPr>
            <p:ph type="subTitle" idx="3"/>
          </p:nvPr>
        </p:nvSpPr>
        <p:spPr>
          <a:xfrm>
            <a:off x="1291365" y="5289767"/>
            <a:ext cx="30216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93" name="Google Shape;293;p28"/>
          <p:cNvSpPr txBox="1">
            <a:spLocks noGrp="1"/>
          </p:cNvSpPr>
          <p:nvPr>
            <p:ph type="subTitle" idx="4"/>
          </p:nvPr>
        </p:nvSpPr>
        <p:spPr>
          <a:xfrm>
            <a:off x="4585417" y="528976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94" name="Google Shape;294;p28"/>
          <p:cNvSpPr txBox="1">
            <a:spLocks noGrp="1"/>
          </p:cNvSpPr>
          <p:nvPr>
            <p:ph type="subTitle" idx="5"/>
          </p:nvPr>
        </p:nvSpPr>
        <p:spPr>
          <a:xfrm>
            <a:off x="7879167" y="298081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95" name="Google Shape;295;p28"/>
          <p:cNvSpPr txBox="1">
            <a:spLocks noGrp="1"/>
          </p:cNvSpPr>
          <p:nvPr>
            <p:ph type="subTitle" idx="6"/>
          </p:nvPr>
        </p:nvSpPr>
        <p:spPr>
          <a:xfrm>
            <a:off x="7879167" y="5289767"/>
            <a:ext cx="30212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96" name="Google Shape;296;p28"/>
          <p:cNvSpPr txBox="1">
            <a:spLocks noGrp="1"/>
          </p:cNvSpPr>
          <p:nvPr>
            <p:ph type="subTitle" idx="7"/>
          </p:nvPr>
        </p:nvSpPr>
        <p:spPr>
          <a:xfrm>
            <a:off x="1291365" y="2520184"/>
            <a:ext cx="302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97" name="Google Shape;297;p28"/>
          <p:cNvSpPr txBox="1">
            <a:spLocks noGrp="1"/>
          </p:cNvSpPr>
          <p:nvPr>
            <p:ph type="subTitle" idx="8"/>
          </p:nvPr>
        </p:nvSpPr>
        <p:spPr>
          <a:xfrm>
            <a:off x="4585417" y="2520184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ubTitle" idx="9"/>
          </p:nvPr>
        </p:nvSpPr>
        <p:spPr>
          <a:xfrm>
            <a:off x="7879167" y="2520184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subTitle" idx="13"/>
          </p:nvPr>
        </p:nvSpPr>
        <p:spPr>
          <a:xfrm>
            <a:off x="1291365" y="4829100"/>
            <a:ext cx="3021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14"/>
          </p:nvPr>
        </p:nvSpPr>
        <p:spPr>
          <a:xfrm>
            <a:off x="4585417" y="4829100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subTitle" idx="15"/>
          </p:nvPr>
        </p:nvSpPr>
        <p:spPr>
          <a:xfrm>
            <a:off x="7879167" y="4829100"/>
            <a:ext cx="30212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32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44394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9"/>
          <p:cNvSpPr txBox="1">
            <a:spLocks noGrp="1"/>
          </p:cNvSpPr>
          <p:nvPr>
            <p:ph type="title" hasCustomPrompt="1"/>
          </p:nvPr>
        </p:nvSpPr>
        <p:spPr>
          <a:xfrm>
            <a:off x="5802633" y="851133"/>
            <a:ext cx="5438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4" name="Google Shape;304;p29"/>
          <p:cNvSpPr txBox="1">
            <a:spLocks noGrp="1"/>
          </p:cNvSpPr>
          <p:nvPr>
            <p:ph type="subTitle" idx="1"/>
          </p:nvPr>
        </p:nvSpPr>
        <p:spPr>
          <a:xfrm>
            <a:off x="5802633" y="1769700"/>
            <a:ext cx="5438400" cy="5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305" name="Google Shape;305;p29"/>
          <p:cNvSpPr txBox="1">
            <a:spLocks noGrp="1"/>
          </p:cNvSpPr>
          <p:nvPr>
            <p:ph type="title" idx="2" hasCustomPrompt="1"/>
          </p:nvPr>
        </p:nvSpPr>
        <p:spPr>
          <a:xfrm>
            <a:off x="5802633" y="2654149"/>
            <a:ext cx="5438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6" name="Google Shape;306;p29"/>
          <p:cNvSpPr txBox="1">
            <a:spLocks noGrp="1"/>
          </p:cNvSpPr>
          <p:nvPr>
            <p:ph type="subTitle" idx="3"/>
          </p:nvPr>
        </p:nvSpPr>
        <p:spPr>
          <a:xfrm>
            <a:off x="5802633" y="3572705"/>
            <a:ext cx="5438400" cy="5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307" name="Google Shape;307;p29"/>
          <p:cNvSpPr txBox="1">
            <a:spLocks noGrp="1"/>
          </p:cNvSpPr>
          <p:nvPr>
            <p:ph type="title" idx="4" hasCustomPrompt="1"/>
          </p:nvPr>
        </p:nvSpPr>
        <p:spPr>
          <a:xfrm>
            <a:off x="5802633" y="4457165"/>
            <a:ext cx="5438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08" name="Google Shape;308;p29"/>
          <p:cNvSpPr txBox="1">
            <a:spLocks noGrp="1"/>
          </p:cNvSpPr>
          <p:nvPr>
            <p:ph type="subTitle" idx="5"/>
          </p:nvPr>
        </p:nvSpPr>
        <p:spPr>
          <a:xfrm>
            <a:off x="5802633" y="5375732"/>
            <a:ext cx="5438400" cy="558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242604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>
            <a:spLocks noGrp="1"/>
          </p:cNvSpPr>
          <p:nvPr>
            <p:ph type="title"/>
          </p:nvPr>
        </p:nvSpPr>
        <p:spPr>
          <a:xfrm>
            <a:off x="950967" y="903367"/>
            <a:ext cx="6792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11" name="Google Shape;311;p30"/>
          <p:cNvSpPr txBox="1">
            <a:spLocks noGrp="1"/>
          </p:cNvSpPr>
          <p:nvPr>
            <p:ph type="subTitle" idx="1"/>
          </p:nvPr>
        </p:nvSpPr>
        <p:spPr>
          <a:xfrm>
            <a:off x="950967" y="2455267"/>
            <a:ext cx="6792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950967" y="4815933"/>
            <a:ext cx="67928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6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4850300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329731" y="-594953"/>
            <a:ext cx="12851480" cy="8040117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7230306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635728" y="3867003"/>
            <a:ext cx="13463447" cy="3820272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6455755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89890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5"/>
          <p:cNvSpPr txBox="1">
            <a:spLocks noGrp="1"/>
          </p:cNvSpPr>
          <p:nvPr>
            <p:ph type="title"/>
          </p:nvPr>
        </p:nvSpPr>
        <p:spPr>
          <a:xfrm>
            <a:off x="955600" y="681367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880320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9AD2C-4A9C-47AA-B8F9-F0002587FCCB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3184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7070-4CFB-4C86-A256-0E6C3FD1C408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1676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E83B-587D-45C2-AF35-237FECABBB8B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6483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E8655-1C05-4297-876F-D39559558A58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8374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10B1E-A10F-4188-BC68-B1B1173122FC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70310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5D84C8-3C98-4FE5-B807-DFFAD279F0D5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60805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29BB0-CA78-46E2-8D58-BDCBFF23087D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04164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491AC-4F78-4A67-8EDC-FE581CACE629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80451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5C736-5EFC-42CE-AB89-CE4E8F2712BF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809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4BF7-F73F-4940-8CBF-9E5E91BA70C4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4195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F8DCF-011E-46B6-BF61-72C70CE5C816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8285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C5E55-ECDB-4ECC-A2B4-12EA19165CDE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31966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4B311-3646-45D8-B6A0-849E3B06A20E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79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1CC1A-92B4-4128-B947-3C8BDAA4B61A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87608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C85223-CB47-4540-82FF-48716FC9FE17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2033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9DCA9-5CCC-479D-8234-6B5D15C2C3B3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86925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A06E7-04A7-420F-906A-3521B9505747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981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65850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3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33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21848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FF80EF4-69DF-469D-B382-549D0DDD2862}" type="datetime1">
              <a:rPr lang="en-US" smtClean="0"/>
              <a:t>8/26/2025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28FB93-0A08-4E7D-8E63-9EFA29F1E093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345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76BEAB-0206-FF52-3AD3-F7842EB8F9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668729"/>
            <a:ext cx="9144000" cy="2387600"/>
          </a:xfrm>
        </p:spPr>
        <p:txBody>
          <a:bodyPr/>
          <a:lstStyle/>
          <a:p>
            <a:r>
              <a:rPr lang="fr-FR" dirty="0"/>
              <a:t>Analyse de données d’assurance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21CDD82-BD08-6B24-792E-A391BB67A2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67506"/>
            <a:ext cx="9144000" cy="1655762"/>
          </a:xfrm>
        </p:spPr>
        <p:txBody>
          <a:bodyPr/>
          <a:lstStyle/>
          <a:p>
            <a:r>
              <a:rPr lang="fr-FR" dirty="0"/>
              <a:t>De la préparation des données aux requêtes SQL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4A78E4F-EA8A-ADB9-C40B-95CF9719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3791DE4-71D2-DAA5-98E8-99B2579FC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403" y="2593237"/>
            <a:ext cx="5647194" cy="2635357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6BC548EE-C204-DECE-4A69-6828E9616DE0}"/>
              </a:ext>
            </a:extLst>
          </p:cNvPr>
          <p:cNvSpPr txBox="1"/>
          <p:nvPr/>
        </p:nvSpPr>
        <p:spPr>
          <a:xfrm>
            <a:off x="4419583" y="5848290"/>
            <a:ext cx="60944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>
                <a:solidFill>
                  <a:schemeClr val="tx1"/>
                </a:solidFill>
                <a:latin typeface="Calisto MT (Corps)"/>
              </a:rPr>
              <a:t>Présenté par</a:t>
            </a:r>
            <a:r>
              <a:rPr lang="fr-FR" sz="2000" dirty="0">
                <a:solidFill>
                  <a:schemeClr val="tx1"/>
                </a:solidFill>
                <a:latin typeface="Calisto MT (Corps)"/>
              </a:rPr>
              <a:t> : D’AURA Rémy</a:t>
            </a:r>
          </a:p>
        </p:txBody>
      </p:sp>
    </p:spTree>
    <p:extLst>
      <p:ext uri="{BB962C8B-B14F-4D97-AF65-F5344CB8AC3E}">
        <p14:creationId xmlns:p14="http://schemas.microsoft.com/office/powerpoint/2010/main" val="2658529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D75AD2-EF04-D262-C41E-C172B2B6D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24375"/>
            <a:ext cx="10353762" cy="970450"/>
          </a:xfrm>
        </p:spPr>
        <p:txBody>
          <a:bodyPr/>
          <a:lstStyle/>
          <a:p>
            <a:r>
              <a:rPr lang="fr-FR" dirty="0"/>
              <a:t>Contexte et Objectifs du Projet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2C7E616-1BCD-5B4E-298A-3F5681E886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915165"/>
            <a:ext cx="724108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Objectif Principal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Répondre à des questions métier précises.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Mettre en pratique les concepts de bases de données relationnelles.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Données Sources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Contrats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Contrats clients.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 </a:t>
            </a:r>
            <a:r>
              <a:rPr kumimoji="0" lang="fr-FR" altLang="fr-F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Region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Référentiel géographique.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Méthodologie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Préparation et nettoyage des données.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Modélisation de la base (schéma, clés).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Requêtes SQL pour l'analyse.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BF99C2A-682A-362C-165B-F6D299F5E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2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94EE35-4C87-E8D1-A50A-B6C55E273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4375"/>
            <a:ext cx="10353762" cy="970450"/>
          </a:xfrm>
        </p:spPr>
        <p:txBody>
          <a:bodyPr/>
          <a:lstStyle/>
          <a:p>
            <a:r>
              <a:rPr lang="fr-FR" dirty="0"/>
              <a:t>Méthodologie - Les Étapes Clés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5D65F1-B01E-42F2-7CB5-2DC47E2A8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60170"/>
            <a:ext cx="10353762" cy="4523105"/>
          </a:xfrm>
        </p:spPr>
        <p:txBody>
          <a:bodyPr>
            <a:normAutofit fontScale="85000" lnSpcReduction="20000"/>
          </a:bodyPr>
          <a:lstStyle/>
          <a:p>
            <a:r>
              <a:rPr lang="fr-FR" b="1" dirty="0"/>
              <a:t>1. Préparation des données</a:t>
            </a:r>
          </a:p>
          <a:p>
            <a:pPr marL="36900" indent="0">
              <a:buNone/>
            </a:pPr>
            <a:r>
              <a:rPr lang="fr-FR" b="1" dirty="0"/>
              <a:t>	</a:t>
            </a:r>
            <a:r>
              <a:rPr lang="fr-FR" dirty="0"/>
              <a:t>-Nettoyage des fichiers CSV (séparateurs, doublons, contraintes de taille.)</a:t>
            </a:r>
          </a:p>
          <a:p>
            <a:r>
              <a:rPr lang="fr-FR" b="1" dirty="0"/>
              <a:t> 2. Modélisation de la base</a:t>
            </a:r>
          </a:p>
          <a:p>
            <a:pPr marL="36900" indent="0">
              <a:buNone/>
            </a:pPr>
            <a:r>
              <a:rPr lang="fr-FR" b="1" dirty="0"/>
              <a:t>	</a:t>
            </a:r>
            <a:r>
              <a:rPr lang="fr-FR" dirty="0"/>
              <a:t>-Modélisation du schéma relationnel</a:t>
            </a:r>
          </a:p>
          <a:p>
            <a:pPr marL="36900" indent="0">
              <a:buNone/>
            </a:pPr>
            <a:r>
              <a:rPr lang="fr-FR" dirty="0"/>
              <a:t>	-Définition du dictionnaire de données</a:t>
            </a:r>
          </a:p>
          <a:p>
            <a:pPr marL="36900" indent="0">
              <a:buNone/>
            </a:pPr>
            <a:r>
              <a:rPr lang="fr-FR" b="1" dirty="0"/>
              <a:t>	</a:t>
            </a:r>
            <a:r>
              <a:rPr lang="fr-FR" dirty="0"/>
              <a:t>-Définition des clés primaires et secondaires</a:t>
            </a:r>
          </a:p>
          <a:p>
            <a:r>
              <a:rPr lang="fr-FR" b="1" dirty="0"/>
              <a:t>3. Création des tables</a:t>
            </a:r>
          </a:p>
          <a:p>
            <a:pPr marL="450000" lvl="1" indent="0">
              <a:buNone/>
            </a:pPr>
            <a:r>
              <a:rPr lang="fr-FR" b="1" dirty="0"/>
              <a:t>	-Création de la base de données sur MySQL</a:t>
            </a:r>
          </a:p>
          <a:p>
            <a:pPr marL="450000" lvl="1" indent="0">
              <a:buNone/>
            </a:pPr>
            <a:r>
              <a:rPr lang="fr-FR" b="1" dirty="0"/>
              <a:t>-Chargement des données</a:t>
            </a:r>
          </a:p>
          <a:p>
            <a:r>
              <a:rPr lang="fr-FR" b="1" dirty="0"/>
              <a:t>4. Requêtes SQL et Analyse</a:t>
            </a:r>
          </a:p>
          <a:p>
            <a:pPr marL="36900" indent="0">
              <a:buNone/>
            </a:pPr>
            <a:r>
              <a:rPr lang="fr-FR" dirty="0"/>
              <a:t>	-Exécution de commandes clés : JOIN, AVG, COUNT, GROUP BY, HAVING</a:t>
            </a:r>
          </a:p>
          <a:p>
            <a:r>
              <a:rPr lang="fr-FR" b="1" dirty="0"/>
              <a:t>Synthèse</a:t>
            </a:r>
            <a:endParaRPr lang="fr-FR" dirty="0"/>
          </a:p>
          <a:p>
            <a:pPr marL="36900" indent="0">
              <a:buNone/>
            </a:pPr>
            <a:r>
              <a:rPr lang="fr-FR" b="1" dirty="0"/>
              <a:t>	</a:t>
            </a:r>
            <a:r>
              <a:rPr lang="fr-FR" dirty="0"/>
              <a:t>-Une approche structurée est essentielle pour garantir des analyses fiables</a:t>
            </a:r>
            <a:endParaRPr lang="fr-FR" b="1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2985CB2-BA61-EA73-6CA1-B23C11F78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908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F24E5B-AA5F-31CC-1EEB-24D2751AF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24375"/>
            <a:ext cx="10353762" cy="970450"/>
          </a:xfrm>
        </p:spPr>
        <p:txBody>
          <a:bodyPr/>
          <a:lstStyle/>
          <a:p>
            <a:r>
              <a:rPr lang="fr-FR" dirty="0"/>
              <a:t>Le Dictionnaire des Données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ABB56F-F1FA-646E-37B5-830588CF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3" name="Espace réservé du contenu 12">
            <a:extLst>
              <a:ext uri="{FF2B5EF4-FFF2-40B4-BE49-F238E27FC236}">
                <a16:creationId xmlns:a16="http://schemas.microsoft.com/office/drawing/2014/main" id="{D84936E3-D885-0AC5-9B16-3C47E2D56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2449" y="2630079"/>
            <a:ext cx="8458513" cy="3704733"/>
          </a:xfr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6C46BB12-2516-8FF1-BC98-11C7EA08D2B2}"/>
              </a:ext>
            </a:extLst>
          </p:cNvPr>
          <p:cNvSpPr txBox="1"/>
          <p:nvPr/>
        </p:nvSpPr>
        <p:spPr>
          <a:xfrm>
            <a:off x="968441" y="1094825"/>
            <a:ext cx="102444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Corps)"/>
              </a:rPr>
              <a:t>Cette section présente le dictionnaire de données de la base. Les types de données ont été choisis pour optimiser la performance et garantir l'intégrité des informations. </a:t>
            </a:r>
          </a:p>
          <a:p>
            <a:r>
              <a:rPr lang="fr-F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Corps)"/>
              </a:rPr>
              <a:t>La capture d'écran ci-dessous illustre la structure de la table contrats telle que définie dans phpMyAdmin.</a:t>
            </a:r>
          </a:p>
        </p:txBody>
      </p:sp>
    </p:spTree>
    <p:extLst>
      <p:ext uri="{BB962C8B-B14F-4D97-AF65-F5344CB8AC3E}">
        <p14:creationId xmlns:p14="http://schemas.microsoft.com/office/powerpoint/2010/main" val="2636738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A6620B-CABD-4FF6-9B72-03D1394D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24375"/>
            <a:ext cx="10353762" cy="970450"/>
          </a:xfrm>
        </p:spPr>
        <p:txBody>
          <a:bodyPr/>
          <a:lstStyle/>
          <a:p>
            <a:r>
              <a:rPr lang="fr-FR" dirty="0"/>
              <a:t>Schéma Relationnel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CEEA44DC-19BA-3FA5-2E8F-ACFF660C3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485" y="3574135"/>
            <a:ext cx="7598380" cy="2826665"/>
          </a:xfr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56B9EAE-A8AB-9CC2-CA78-E44469807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080C970-193E-AB93-FDD6-7950375BBCFF}"/>
              </a:ext>
            </a:extLst>
          </p:cNvPr>
          <p:cNvSpPr txBox="1"/>
          <p:nvPr/>
        </p:nvSpPr>
        <p:spPr>
          <a:xfrm>
            <a:off x="1616094" y="1020906"/>
            <a:ext cx="894916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Corps)"/>
              </a:rPr>
              <a:t>Le schéma relationnel est la représentation visuelle de la structure et des liens entre les tables. Il a été conçu pour permettre une analyse efficace en connectant les données des contrats à leur localisation géographique. </a:t>
            </a:r>
          </a:p>
          <a:p>
            <a:endParaRPr lang="fr-FR" sz="20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sto MT (Corps)"/>
            </a:endParaRPr>
          </a:p>
          <a:p>
            <a:r>
              <a:rPr lang="fr-F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Corps)"/>
              </a:rPr>
              <a:t>Ce schéma repose sur un lien entre la table contrats et la table </a:t>
            </a:r>
            <a:r>
              <a:rPr lang="fr-FR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Corps)"/>
              </a:rPr>
              <a:t>region</a:t>
            </a:r>
            <a:r>
              <a:rPr lang="fr-F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Corps)"/>
              </a:rPr>
              <a:t> : la colonne </a:t>
            </a:r>
            <a:r>
              <a:rPr lang="fr-FR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Corps)"/>
              </a:rPr>
              <a:t>Code_dep_code_commune</a:t>
            </a:r>
            <a:r>
              <a:rPr lang="fr-F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Corps)"/>
              </a:rPr>
              <a:t> de la table contrats est une clé étrangère qui se réfère à la clé primaire de la table </a:t>
            </a:r>
            <a:r>
              <a:rPr lang="fr-FR" sz="2000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Corps)"/>
              </a:rPr>
              <a:t>region</a:t>
            </a:r>
            <a:r>
              <a:rPr lang="fr-FR" sz="20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sto MT (Corps)"/>
              </a:rPr>
              <a:t>. Cette relation assure la cohérence de la base de données.</a:t>
            </a:r>
          </a:p>
        </p:txBody>
      </p:sp>
    </p:spTree>
    <p:extLst>
      <p:ext uri="{BB962C8B-B14F-4D97-AF65-F5344CB8AC3E}">
        <p14:creationId xmlns:p14="http://schemas.microsoft.com/office/powerpoint/2010/main" val="3622015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C48560-3711-28EB-FEAB-24A6F7688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4375"/>
            <a:ext cx="10353762" cy="970450"/>
          </a:xfrm>
        </p:spPr>
        <p:txBody>
          <a:bodyPr/>
          <a:lstStyle/>
          <a:p>
            <a:r>
              <a:rPr lang="fr-FR" dirty="0"/>
              <a:t>Base de données fonctionnelle et chargée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554C48-8105-B4C3-A0E0-3520DDD50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99624"/>
            <a:ext cx="10353762" cy="4058751"/>
          </a:xfrm>
        </p:spPr>
        <p:txBody>
          <a:bodyPr/>
          <a:lstStyle/>
          <a:p>
            <a:pPr marL="36900" indent="0">
              <a:buNone/>
            </a:pPr>
            <a:r>
              <a:rPr lang="fr-FR" dirty="0"/>
              <a:t>Une fois le schéma relationnel et les tables créés, les données des fichiers CSV ont été importées avec succès. Cette étape a permis de valider la structure de la base de données et la qualité des données préparées.</a:t>
            </a:r>
          </a:p>
          <a:p>
            <a:pPr marL="36900" indent="0">
              <a:buNone/>
            </a:pPr>
            <a:r>
              <a:rPr lang="fr-FR" dirty="0"/>
              <a:t>La base de données est désormais fonctionnelle, avec toutes les informations correctement chargées et liées.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34E76CC-7FDE-4B59-D452-3BF90CDA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4CBF55D-333C-B021-BCE7-08CF1993ED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430" y="3428999"/>
            <a:ext cx="5484200" cy="117266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02FCB658-2BB3-2C29-EF2B-8F961DEE79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809" y="3428999"/>
            <a:ext cx="5019459" cy="318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452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E63B75-6AE4-A4F6-8F3B-F62E6AF5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230737"/>
            <a:ext cx="10353762" cy="970450"/>
          </a:xfrm>
        </p:spPr>
        <p:txBody>
          <a:bodyPr/>
          <a:lstStyle/>
          <a:p>
            <a:r>
              <a:rPr lang="fr-FR" dirty="0"/>
              <a:t>Analyse 1 - La surface à Paris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357949-1D21-C6BF-DBD8-DEE2CC6DEB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u="sng" dirty="0">
                <a:effectLst/>
              </a:rPr>
              <a:t>Requête 1 :</a:t>
            </a:r>
            <a:r>
              <a:rPr lang="fr-FR" b="1" dirty="0">
                <a:effectLst/>
              </a:rPr>
              <a:t> </a:t>
            </a:r>
            <a:r>
              <a:rPr lang="fr-FR" dirty="0">
                <a:effectLst/>
              </a:rPr>
              <a:t>Lister les numéros de contrats (</a:t>
            </a:r>
            <a:r>
              <a:rPr lang="fr-FR" dirty="0" err="1">
                <a:effectLst/>
              </a:rPr>
              <a:t>contrat_ID</a:t>
            </a:r>
            <a:r>
              <a:rPr lang="fr-FR" dirty="0">
                <a:effectLst/>
              </a:rPr>
              <a:t>) avec leur surface pour la commune de Caen :</a:t>
            </a:r>
          </a:p>
          <a:p>
            <a:pPr marL="36900" indent="0">
              <a:buNone/>
            </a:pPr>
            <a:endParaRPr lang="fr-FR" dirty="0">
              <a:effectLst/>
            </a:endParaRPr>
          </a:p>
          <a:p>
            <a:pPr marL="36900" indent="0">
              <a:buNone/>
            </a:pPr>
            <a:endParaRPr lang="fr-FR" dirty="0">
              <a:effectLst/>
            </a:endParaRPr>
          </a:p>
          <a:p>
            <a:pPr marL="36900" indent="0">
              <a:buNone/>
            </a:pPr>
            <a:endParaRPr lang="fr-FR" dirty="0">
              <a:effectLst/>
            </a:endParaRPr>
          </a:p>
          <a:p>
            <a:pPr marL="36900" indent="0">
              <a:buNone/>
            </a:pPr>
            <a:endParaRPr lang="fr-FR" dirty="0">
              <a:effectLst/>
            </a:endParaRPr>
          </a:p>
          <a:p>
            <a:r>
              <a:rPr lang="fr-FR" dirty="0">
                <a:effectLst/>
              </a:rPr>
              <a:t>Résultat : 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3B4D5FB-7DBC-369B-ED4E-3B7C41672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DFA1E95-B584-21B2-CE84-CE203C9AAE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8618" y="2783780"/>
            <a:ext cx="4744112" cy="126700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56C0A87-EA7D-F639-A5BB-E0F5E939E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3805" y="5102113"/>
            <a:ext cx="1533739" cy="116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426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D6D269-F453-3D64-CE41-C8C6A9296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4375"/>
            <a:ext cx="10353762" cy="970450"/>
          </a:xfrm>
        </p:spPr>
        <p:txBody>
          <a:bodyPr/>
          <a:lstStyle/>
          <a:p>
            <a:r>
              <a:rPr lang="fr-FR" dirty="0"/>
              <a:t>Analyse 2 - Le prix de cotisation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DCC1A0E0-4A3B-388A-0EB8-95550011D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962" y="2790736"/>
            <a:ext cx="4677428" cy="1276528"/>
          </a:xfr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5BEDF46-2820-A754-8FA5-09007099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6A86F02-612B-EA12-9426-99FA33502D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8411" y="5000451"/>
            <a:ext cx="2724530" cy="1247949"/>
          </a:xfrm>
          <a:prstGeom prst="rect">
            <a:avLst/>
          </a:prstGeom>
        </p:spPr>
      </p:pic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06842775-140C-4F13-F56C-0E56C62094D3}"/>
              </a:ext>
            </a:extLst>
          </p:cNvPr>
          <p:cNvSpPr txBox="1">
            <a:spLocks/>
          </p:cNvSpPr>
          <p:nvPr/>
        </p:nvSpPr>
        <p:spPr>
          <a:xfrm>
            <a:off x="913794" y="1824524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u="sng" dirty="0">
                <a:effectLst/>
              </a:rPr>
              <a:t>Requête 2 :</a:t>
            </a:r>
            <a:r>
              <a:rPr lang="fr-FR" b="1" dirty="0">
                <a:effectLst/>
              </a:rPr>
              <a:t> </a:t>
            </a:r>
            <a:r>
              <a:rPr lang="fr-FR" dirty="0">
                <a:effectLst/>
              </a:rPr>
              <a:t>Lister les numéros de contrats avec le type de contrat et leur formule pour les maisons du département 71 :</a:t>
            </a:r>
          </a:p>
          <a:p>
            <a:pPr marL="36900" indent="0">
              <a:buFont typeface="Wingdings 2" charset="2"/>
              <a:buNone/>
            </a:pPr>
            <a:endParaRPr lang="fr-FR" dirty="0">
              <a:effectLst/>
            </a:endParaRPr>
          </a:p>
          <a:p>
            <a:pPr marL="36900" indent="0">
              <a:buFont typeface="Wingdings 2" charset="2"/>
              <a:buNone/>
            </a:pPr>
            <a:endParaRPr lang="fr-FR" dirty="0">
              <a:effectLst/>
            </a:endParaRPr>
          </a:p>
          <a:p>
            <a:pPr marL="36900" indent="0">
              <a:buFont typeface="Wingdings 2" charset="2"/>
              <a:buNone/>
            </a:pPr>
            <a:endParaRPr lang="fr-FR" dirty="0">
              <a:effectLst/>
            </a:endParaRPr>
          </a:p>
          <a:p>
            <a:pPr marL="36900" indent="0">
              <a:buFont typeface="Wingdings 2" charset="2"/>
              <a:buNone/>
            </a:pPr>
            <a:endParaRPr lang="fr-FR" dirty="0">
              <a:effectLst/>
            </a:endParaRPr>
          </a:p>
          <a:p>
            <a:r>
              <a:rPr lang="fr-FR" dirty="0">
                <a:effectLst/>
              </a:rPr>
              <a:t>Résultat : </a:t>
            </a:r>
          </a:p>
        </p:txBody>
      </p:sp>
    </p:spTree>
    <p:extLst>
      <p:ext uri="{BB962C8B-B14F-4D97-AF65-F5344CB8AC3E}">
        <p14:creationId xmlns:p14="http://schemas.microsoft.com/office/powerpoint/2010/main" val="3994090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6C46B8-B1E2-D3E2-4C07-7C1B09CB9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24375"/>
            <a:ext cx="10353762" cy="970450"/>
          </a:xfrm>
        </p:spPr>
        <p:txBody>
          <a:bodyPr/>
          <a:lstStyle/>
          <a:p>
            <a:r>
              <a:rPr lang="fr-FR" dirty="0"/>
              <a:t>Analyse 3 - Les contrats par région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3A398372-8E80-C8E1-F701-AF9FD3BEB7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4647" y="2933631"/>
            <a:ext cx="2372056" cy="495369"/>
          </a:xfrm>
        </p:spPr>
      </p:pic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89FF293-2ACA-AAE9-456B-EA514A67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8F69026-1AF3-025A-071B-C05BAE1A48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831" y="4521010"/>
            <a:ext cx="2781688" cy="1362265"/>
          </a:xfrm>
          <a:prstGeom prst="rect">
            <a:avLst/>
          </a:prstGeom>
        </p:spPr>
      </p:pic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7152BB37-593D-4E67-B341-3ABC68B3DBA5}"/>
              </a:ext>
            </a:extLst>
          </p:cNvPr>
          <p:cNvSpPr txBox="1">
            <a:spLocks/>
          </p:cNvSpPr>
          <p:nvPr/>
        </p:nvSpPr>
        <p:spPr>
          <a:xfrm>
            <a:off x="924444" y="1824524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u="sng" dirty="0">
                <a:effectLst/>
              </a:rPr>
              <a:t>Requête 3 :</a:t>
            </a:r>
            <a:r>
              <a:rPr lang="fr-FR" b="1" dirty="0">
                <a:effectLst/>
              </a:rPr>
              <a:t> </a:t>
            </a:r>
            <a:r>
              <a:rPr lang="fr-FR" dirty="0">
                <a:effectLst/>
              </a:rPr>
              <a:t>Lister le nom des régions de France :</a:t>
            </a:r>
          </a:p>
          <a:p>
            <a:pPr marL="36900" indent="0">
              <a:buFont typeface="Wingdings 2" charset="2"/>
              <a:buNone/>
            </a:pPr>
            <a:endParaRPr lang="fr-FR" dirty="0">
              <a:effectLst/>
            </a:endParaRPr>
          </a:p>
          <a:p>
            <a:pPr marL="36900" indent="0">
              <a:buFont typeface="Wingdings 2" charset="2"/>
              <a:buNone/>
            </a:pPr>
            <a:endParaRPr lang="fr-FR" dirty="0">
              <a:effectLst/>
            </a:endParaRPr>
          </a:p>
          <a:p>
            <a:pPr marL="36900" indent="0">
              <a:buFont typeface="Wingdings 2" charset="2"/>
              <a:buNone/>
            </a:pPr>
            <a:endParaRPr lang="fr-FR" dirty="0">
              <a:effectLst/>
            </a:endParaRPr>
          </a:p>
          <a:p>
            <a:pPr marL="36900" indent="0">
              <a:buFont typeface="Wingdings 2" charset="2"/>
              <a:buNone/>
            </a:pPr>
            <a:endParaRPr lang="fr-FR" dirty="0">
              <a:effectLst/>
            </a:endParaRPr>
          </a:p>
          <a:p>
            <a:r>
              <a:rPr lang="fr-FR" dirty="0">
                <a:effectLst/>
              </a:rPr>
              <a:t>Résultat : </a:t>
            </a:r>
          </a:p>
        </p:txBody>
      </p:sp>
    </p:spTree>
    <p:extLst>
      <p:ext uri="{BB962C8B-B14F-4D97-AF65-F5344CB8AC3E}">
        <p14:creationId xmlns:p14="http://schemas.microsoft.com/office/powerpoint/2010/main" val="1263266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8B2B96-EB6F-EF4E-EFA9-645DA95E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24375"/>
            <a:ext cx="10353762" cy="970450"/>
          </a:xfrm>
        </p:spPr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AF76CE-8C03-9ECC-66C4-2E3059E6BD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9119" y="1180726"/>
            <a:ext cx="1136240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Leçons apprises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L'importance de la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qualité des données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(nettoyage et vérification).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construction d'un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schéma relationnel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lier les données entre elles.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 puissance des </a:t>
            </a: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requêtes SQL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pour transformer les données brutes en informations concrètes.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fr-FR" altLang="fr-F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Synthèse du projet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 nettoyage de données est une étape cruciale qui a un impact direct sur la réussite de l'analyse.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Maîtriser les requêtes </a:t>
            </a:r>
            <a:r>
              <a:rPr lang="fr-FR" altLang="fr-FR" sz="180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 et les fonctions d'agrégation est la clé pour extraire des informations pertinentes.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DBC10C-7566-4C6D-7EAA-0CECB3E4A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A7BC1A2-5D24-1368-ABAA-F1CD0AD4E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5621" y="4074815"/>
            <a:ext cx="3500758" cy="180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609775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acé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rdoise">
  <a:themeElements>
    <a:clrScheme name="Ardois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Ardois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rdois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Data Collection and Analysis - Master of Science in Community Health and Prevention Research by Slidesgo</Template>
  <TotalTime>54</TotalTime>
  <Words>564</Words>
  <Application>Microsoft Office PowerPoint</Application>
  <PresentationFormat>Grand écran</PresentationFormat>
  <Paragraphs>80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10</vt:i4>
      </vt:variant>
    </vt:vector>
  </HeadingPairs>
  <TitlesOfParts>
    <vt:vector size="22" baseType="lpstr">
      <vt:lpstr>Calisto MT (Corps)</vt:lpstr>
      <vt:lpstr>Outfit</vt:lpstr>
      <vt:lpstr>Proxima Nova</vt:lpstr>
      <vt:lpstr>Arial</vt:lpstr>
      <vt:lpstr>Calibri</vt:lpstr>
      <vt:lpstr>Calisto MT</vt:lpstr>
      <vt:lpstr>DM Sans</vt:lpstr>
      <vt:lpstr>Nunito Light</vt:lpstr>
      <vt:lpstr>Wingdings 2</vt:lpstr>
      <vt:lpstr>Data Collection and Analysis - Master of Science in Community Health and Prevention Research by Slidesgo</vt:lpstr>
      <vt:lpstr>Slidesgo Final Pages</vt:lpstr>
      <vt:lpstr>Ardoise</vt:lpstr>
      <vt:lpstr>Analyse de données d’assurance </vt:lpstr>
      <vt:lpstr>Contexte et Objectifs du Projet</vt:lpstr>
      <vt:lpstr>Méthodologie - Les Étapes Clés</vt:lpstr>
      <vt:lpstr>Le Dictionnaire des Données</vt:lpstr>
      <vt:lpstr>Schéma Relationnel</vt:lpstr>
      <vt:lpstr>Base de données fonctionnelle et chargée</vt:lpstr>
      <vt:lpstr>Analyse 1 - La surface à Paris</vt:lpstr>
      <vt:lpstr>Analyse 2 - Le prix de cotisation</vt:lpstr>
      <vt:lpstr>Analyse 3 - Les contrats par région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remy daura</dc:creator>
  <cp:lastModifiedBy>remy daura</cp:lastModifiedBy>
  <cp:revision>6</cp:revision>
  <dcterms:created xsi:type="dcterms:W3CDTF">2025-08-20T10:38:51Z</dcterms:created>
  <dcterms:modified xsi:type="dcterms:W3CDTF">2025-08-26T12:15:41Z</dcterms:modified>
</cp:coreProperties>
</file>